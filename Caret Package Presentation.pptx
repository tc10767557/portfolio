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IBM Plex Sans"/>
      <p:regular r:id="rId17"/>
      <p:bold r:id="rId18"/>
      <p:italic r:id="rId19"/>
      <p:boldItalic r:id="rId20"/>
    </p:embeddedFont>
    <p:embeddedFont>
      <p:font typeface="Sora SemiBold"/>
      <p:regular r:id="rId21"/>
      <p:bold r:id="rId22"/>
    </p:embeddedFont>
    <p:embeddedFont>
      <p:font typeface="IBM Plex Sans Medium"/>
      <p:regular r:id="rId23"/>
      <p:bold r:id="rId24"/>
      <p:italic r:id="rId25"/>
      <p:boldItalic r:id="rId26"/>
    </p:embeddedFont>
    <p:embeddedFont>
      <p:font typeface="Sora Light"/>
      <p:regular r:id="rId27"/>
      <p:bold r:id="rId28"/>
    </p:embeddedFont>
    <p:embeddedFont>
      <p:font typeface="Sora ExtraLight"/>
      <p:regular r:id="rId29"/>
      <p:bold r:id="rId30"/>
    </p:embeddedFont>
    <p:embeddedFont>
      <p:font typeface="Sora"/>
      <p:regular r:id="rId31"/>
      <p:bold r:id="rId32"/>
    </p:embeddedFont>
    <p:embeddedFont>
      <p:font typeface="Sora Medium"/>
      <p:regular r:id="rId33"/>
      <p:bold r:id="rId34"/>
    </p:embeddedFont>
    <p:embeddedFont>
      <p:font typeface="IBM Plex Sans SemiBold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ora-regular.fntdata"/><Relationship Id="rId30" Type="http://schemas.openxmlformats.org/officeDocument/2006/relationships/font" Target="fonts/SoraExtraLight-bold.fntdata"/><Relationship Id="rId33" Type="http://schemas.openxmlformats.org/officeDocument/2006/relationships/font" Target="fonts/SoraMedium-regular.fntdata"/><Relationship Id="rId32" Type="http://schemas.openxmlformats.org/officeDocument/2006/relationships/font" Target="fonts/Sora-bold.fntdata"/><Relationship Id="rId35" Type="http://schemas.openxmlformats.org/officeDocument/2006/relationships/font" Target="fonts/IBMPlexSansSemiBold-regular.fntdata"/><Relationship Id="rId34" Type="http://schemas.openxmlformats.org/officeDocument/2006/relationships/font" Target="fonts/SoraMedium-bold.fntdata"/><Relationship Id="rId37" Type="http://schemas.openxmlformats.org/officeDocument/2006/relationships/font" Target="fonts/IBMPlexSansSemiBold-italic.fntdata"/><Relationship Id="rId36" Type="http://schemas.openxmlformats.org/officeDocument/2006/relationships/font" Target="fonts/IBMPlexSansSemiBold-bold.fntdata"/><Relationship Id="rId38" Type="http://schemas.openxmlformats.org/officeDocument/2006/relationships/font" Target="fonts/IBMPlexSansSemiBold-boldItalic.fntdata"/><Relationship Id="rId20" Type="http://schemas.openxmlformats.org/officeDocument/2006/relationships/font" Target="fonts/IBMPlexSans-boldItalic.fntdata"/><Relationship Id="rId22" Type="http://schemas.openxmlformats.org/officeDocument/2006/relationships/font" Target="fonts/SoraSemiBold-bold.fntdata"/><Relationship Id="rId21" Type="http://schemas.openxmlformats.org/officeDocument/2006/relationships/font" Target="fonts/SoraSemiBold-regular.fntdata"/><Relationship Id="rId24" Type="http://schemas.openxmlformats.org/officeDocument/2006/relationships/font" Target="fonts/IBMPlexSansMedium-bold.fntdata"/><Relationship Id="rId23" Type="http://schemas.openxmlformats.org/officeDocument/2006/relationships/font" Target="fonts/IBMPlexSansMedium-regular.fntdata"/><Relationship Id="rId26" Type="http://schemas.openxmlformats.org/officeDocument/2006/relationships/font" Target="fonts/IBMPlexSansMedium-boldItalic.fntdata"/><Relationship Id="rId25" Type="http://schemas.openxmlformats.org/officeDocument/2006/relationships/font" Target="fonts/IBMPlexSansMedium-italic.fntdata"/><Relationship Id="rId28" Type="http://schemas.openxmlformats.org/officeDocument/2006/relationships/font" Target="fonts/SoraLight-bold.fntdata"/><Relationship Id="rId27" Type="http://schemas.openxmlformats.org/officeDocument/2006/relationships/font" Target="fonts/SoraLight-regular.fntdata"/><Relationship Id="rId29" Type="http://schemas.openxmlformats.org/officeDocument/2006/relationships/font" Target="fonts/SoraExtraLight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BMPlexSans-regular.fntdata"/><Relationship Id="rId16" Type="http://schemas.openxmlformats.org/officeDocument/2006/relationships/slide" Target="slides/slide10.xml"/><Relationship Id="rId19" Type="http://schemas.openxmlformats.org/officeDocument/2006/relationships/font" Target="fonts/IBMPlexSans-italic.fntdata"/><Relationship Id="rId18" Type="http://schemas.openxmlformats.org/officeDocument/2006/relationships/font" Target="fonts/IBMPlex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85a8597240_0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85a8597240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85a8597240_0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85a8597240_0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85a8597240_0_20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85a8597240_0_20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385a8597240_0_20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385a8597240_0_20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g385a8597240_0_2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4" name="Google Shape;954;g385a8597240_0_2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85a8597240_0_1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85a8597240_0_1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85a8597240_0_20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85a8597240_0_20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85a8597240_0_2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85a8597240_0_2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85a8597240_0_2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85a8597240_0_2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g385a8597240_0_2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8" name="Google Shape;988;g385a8597240_0_2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idx="2" type="subTitle"/>
          </p:nvPr>
        </p:nvSpPr>
        <p:spPr>
          <a:xfrm>
            <a:off x="138475" y="228600"/>
            <a:ext cx="24861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Nora Zakrzewski &amp; Teagan Clark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DSS 445</a:t>
            </a:r>
            <a:r>
              <a:rPr lang="en">
                <a:latin typeface="Sora"/>
                <a:ea typeface="Sora"/>
                <a:cs typeface="Sora"/>
                <a:sym typeface="Sora"/>
              </a:rPr>
              <a:t> Midterm Presentation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4" name="Google Shape;934;p6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R’s Caret Package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4"/>
          <p:cNvSpPr txBox="1"/>
          <p:nvPr>
            <p:ph idx="13" type="title"/>
          </p:nvPr>
        </p:nvSpPr>
        <p:spPr>
          <a:xfrm>
            <a:off x="115025" y="27712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caret?</a:t>
            </a:r>
            <a:endParaRPr/>
          </a:p>
        </p:txBody>
      </p:sp>
      <p:sp>
        <p:nvSpPr>
          <p:cNvPr id="940" name="Google Shape;940;p64"/>
          <p:cNvSpPr txBox="1"/>
          <p:nvPr/>
        </p:nvSpPr>
        <p:spPr>
          <a:xfrm>
            <a:off x="228600" y="960525"/>
            <a:ext cx="8075100" cy="3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/>
              <a:t>Created by Max Kuhn in 2007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/>
              <a:t>Essentially the predecessor of the tinymodels package (2019).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/>
              <a:t>Short for “Classification and Regression Training”, it is a comprehensive package for machine learning, offering tools for model training, hyperparameter tuning, and model evaluation across various algorithms.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/>
              <a:t>In simpler terms, caret: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○"/>
            </a:pPr>
            <a:r>
              <a:rPr lang="en"/>
              <a:t>Trains models (teaches the computer how to make predictions from data)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○"/>
            </a:pPr>
            <a:r>
              <a:rPr lang="en"/>
              <a:t>Tunes settings (helps you find the best setup for your model)</a:t>
            </a:r>
            <a:endParaRPr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○"/>
            </a:pPr>
            <a:r>
              <a:rPr lang="en"/>
              <a:t>Tests accuracy (checks how well your model is doing)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ra"/>
              <a:buChar char="●"/>
            </a:pPr>
            <a:r>
              <a:rPr lang="en"/>
              <a:t>There are over 230 models included in the package including various tree-based models, neural nets, deep learning and much more.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65"/>
          <p:cNvSpPr txBox="1"/>
          <p:nvPr>
            <p:ph idx="13" type="title"/>
          </p:nvPr>
        </p:nvSpPr>
        <p:spPr>
          <a:xfrm>
            <a:off x="115025" y="277125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</a:t>
            </a:r>
            <a:endParaRPr/>
          </a:p>
        </p:txBody>
      </p:sp>
      <p:sp>
        <p:nvSpPr>
          <p:cNvPr id="946" name="Google Shape;946;p65"/>
          <p:cNvSpPr txBox="1"/>
          <p:nvPr/>
        </p:nvSpPr>
        <p:spPr>
          <a:xfrm>
            <a:off x="228600" y="960525"/>
            <a:ext cx="8075100" cy="3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Sora"/>
              <a:buChar char="●"/>
            </a:pPr>
            <a:r>
              <a:rPr lang="en" sz="1600"/>
              <a:t>When someone has data and wants to predict something, they usually need to:</a:t>
            </a:r>
            <a:endParaRPr sz="16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Sora"/>
              <a:buChar char="○"/>
            </a:pPr>
            <a:r>
              <a:rPr lang="en" sz="1600"/>
              <a:t>Prepare the data (clean it, scale it, or encode categories)</a:t>
            </a:r>
            <a:endParaRPr sz="16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Sora"/>
              <a:buChar char="○"/>
            </a:pPr>
            <a:r>
              <a:rPr lang="en" sz="1600"/>
              <a:t>Choose a model (like decision trees, logistic regression, or random forest)</a:t>
            </a:r>
            <a:endParaRPr sz="16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Sora"/>
              <a:buChar char="○"/>
            </a:pPr>
            <a:r>
              <a:rPr lang="en" sz="1600"/>
              <a:t>Train the model (so it learns patterns from the data)</a:t>
            </a:r>
            <a:endParaRPr sz="16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Sora"/>
              <a:buChar char="○"/>
            </a:pPr>
            <a:r>
              <a:rPr lang="en" sz="1600"/>
              <a:t>Test how well it works</a:t>
            </a:r>
            <a:endParaRPr sz="16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Sora"/>
              <a:buChar char="○"/>
            </a:pPr>
            <a:r>
              <a:rPr lang="en" sz="1600"/>
              <a:t>Adjust settings to make it more accurate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Sora"/>
              <a:buChar char="●"/>
            </a:pPr>
            <a:r>
              <a:rPr lang="en" sz="1600"/>
              <a:t>The Caret package brings all of these steps together in one consistent framework. 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Sora"/>
              <a:buChar char="●"/>
            </a:pPr>
            <a:r>
              <a:rPr lang="en" sz="1600"/>
              <a:t>It’s used mostly by data scientists and statisticians who work in R</a:t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6"/>
          <p:cNvSpPr txBox="1"/>
          <p:nvPr>
            <p:ph type="title"/>
          </p:nvPr>
        </p:nvSpPr>
        <p:spPr>
          <a:xfrm>
            <a:off x="2662050" y="1261150"/>
            <a:ext cx="3819900" cy="18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Caret Demo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67"/>
          <p:cNvSpPr txBox="1"/>
          <p:nvPr>
            <p:ph idx="13" type="title"/>
          </p:nvPr>
        </p:nvSpPr>
        <p:spPr>
          <a:xfrm>
            <a:off x="115025" y="228600"/>
            <a:ext cx="64404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</a:t>
            </a:r>
            <a:endParaRPr/>
          </a:p>
        </p:txBody>
      </p:sp>
      <p:sp>
        <p:nvSpPr>
          <p:cNvPr id="957" name="Google Shape;957;p67"/>
          <p:cNvSpPr txBox="1"/>
          <p:nvPr/>
        </p:nvSpPr>
        <p:spPr>
          <a:xfrm>
            <a:off x="249438" y="734900"/>
            <a:ext cx="8075100" cy="3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Sora"/>
              <a:buChar char="●"/>
            </a:pPr>
            <a:r>
              <a:rPr lang="en" sz="1600"/>
              <a:t>We will use the Professor Evaluation data (evals.csv) to demonstrate how caret works.</a:t>
            </a:r>
            <a:endParaRPr sz="1600"/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Sora"/>
              <a:buChar char="○"/>
            </a:pPr>
            <a:r>
              <a:rPr lang="en" sz="1600"/>
              <a:t>This dataset explores how different factors might be related to a professor’s teaching evaluation score.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 will use caret to predict scores using all other variables &amp; see which variables are best predictors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58" name="Google Shape;95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900" y="2062475"/>
            <a:ext cx="6840176" cy="236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68"/>
          <p:cNvSpPr txBox="1"/>
          <p:nvPr>
            <p:ph idx="16" type="title"/>
          </p:nvPr>
        </p:nvSpPr>
        <p:spPr>
          <a:xfrm>
            <a:off x="85731" y="115500"/>
            <a:ext cx="717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</a:t>
            </a:r>
            <a:endParaRPr/>
          </a:p>
        </p:txBody>
      </p:sp>
      <p:sp>
        <p:nvSpPr>
          <p:cNvPr id="964" name="Google Shape;964;p68"/>
          <p:cNvSpPr txBox="1"/>
          <p:nvPr/>
        </p:nvSpPr>
        <p:spPr>
          <a:xfrm>
            <a:off x="228600" y="736275"/>
            <a:ext cx="8499900" cy="4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caret loads packages as needed and assumes that they are installed.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Install caret using: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install.packages("caret", dependencies = TRUE)</a:t>
            </a:r>
            <a:endParaRPr b="1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Sora"/>
              <a:buChar char="○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Dependencies ensure all needed packages are installed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Load in data: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evals &lt;- read.csv( "/Users/nora/Desktop/DSS R Programming/Datasets/evals.csv",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 header = TRUE)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Converting categorical variables to numerical: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evals$rank &lt;- as.factor(evals$rank)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evals$ethnicity &lt;- as.factor(evals$ethnicity)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evals$gender &lt;- as.factor(evals$gender)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evals$language &lt;- as.factor(evals$language)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evals$cls_level &lt;- as.factor(evals$cls_level)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evals$cls_profs &lt;- as.factor(evals$cls_profs)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evals$pic_outfit &lt;- as.factor(evals$pic_outfit)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evals$pic_color &lt;- as.factor(evals$pic_color)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69"/>
          <p:cNvSpPr txBox="1"/>
          <p:nvPr>
            <p:ph idx="16" type="title"/>
          </p:nvPr>
        </p:nvSpPr>
        <p:spPr>
          <a:xfrm>
            <a:off x="85731" y="115500"/>
            <a:ext cx="717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Model</a:t>
            </a:r>
            <a:endParaRPr/>
          </a:p>
        </p:txBody>
      </p:sp>
      <p:sp>
        <p:nvSpPr>
          <p:cNvPr id="970" name="Google Shape;970;p69"/>
          <p:cNvSpPr txBox="1"/>
          <p:nvPr/>
        </p:nvSpPr>
        <p:spPr>
          <a:xfrm>
            <a:off x="228600" y="736275"/>
            <a:ext cx="8499900" cy="4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Split data into training (80%) and test (20%) sets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set.seed(123)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train_index &lt;- createDataPartition(evals$score, p = 0.8, list = FALSE)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train &lt;- evals[train_index, ]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test &lt;- evals[-train_index, ]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Training a random forest model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model &lt;- train(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  score ~ .,             # predict score using all other variables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  data = train,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  method = "rf",         # random forest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  preProcess = c("center", "scale"),  # standardize numeric variables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  trControl = trainControl(method = "cv", number = 5)  # 5-fold cross-validation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)</a:t>
            </a:r>
            <a:endParaRPr b="1" sz="11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b="1" lang="en" sz="11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print(model)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We are using Random Forest because it is accurate, less restrictive than a linear model, &amp; offers insight into which input variables are the strongest predictors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70"/>
          <p:cNvSpPr txBox="1"/>
          <p:nvPr>
            <p:ph idx="16" type="title"/>
          </p:nvPr>
        </p:nvSpPr>
        <p:spPr>
          <a:xfrm>
            <a:off x="85731" y="115500"/>
            <a:ext cx="717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</a:t>
            </a:r>
            <a:endParaRPr/>
          </a:p>
        </p:txBody>
      </p:sp>
      <p:sp>
        <p:nvSpPr>
          <p:cNvPr id="976" name="Google Shape;976;p70"/>
          <p:cNvSpPr txBox="1"/>
          <p:nvPr/>
        </p:nvSpPr>
        <p:spPr>
          <a:xfrm>
            <a:off x="276900" y="798900"/>
            <a:ext cx="4105800" cy="4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Random Forest </a:t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372 samples</a:t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14 predictor</a:t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Pre-processing: centered (15), scaled (15) </a:t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Resampling: Cross-Validated (5 fold) </a:t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Summary of sample sizes: 298, 297, 298, 298, 297 </a:t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Resampling results across tuning parameters:</a:t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mtry  RMSE       Rsquared   MAE      </a:t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2    0.4387868  0.3587901  0.3465187</a:t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8    0.4334295  0.3592331  0.3401551</a:t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15    0.4329532  0.3592219  0.3381422</a:t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RMSE was used to select the optimal model using the smallest value.</a:t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The final value used for the model was mtry = 15.</a:t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7" name="Google Shape;977;p70"/>
          <p:cNvSpPr txBox="1"/>
          <p:nvPr/>
        </p:nvSpPr>
        <p:spPr>
          <a:xfrm>
            <a:off x="4572000" y="736275"/>
            <a:ext cx="4105800" cy="4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RMSE (root mean squared error) ≈ 0.43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On average, the model’s predictions are off by about 0.43 points on the evaluation scale (1–5).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R² (Coefficient of Determination) ≈ 0.36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The model explains ≈ 36% of the variation in evaluation scores. 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MAE (Mean Absolute Error) ≈ 0.34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Model predictions are usually within about 0.34 of a point of the true value.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71"/>
          <p:cNvSpPr txBox="1"/>
          <p:nvPr>
            <p:ph idx="16" type="title"/>
          </p:nvPr>
        </p:nvSpPr>
        <p:spPr>
          <a:xfrm>
            <a:off x="85731" y="115500"/>
            <a:ext cx="71781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Strongest Predictive Variables</a:t>
            </a:r>
            <a:endParaRPr/>
          </a:p>
        </p:txBody>
      </p:sp>
      <p:sp>
        <p:nvSpPr>
          <p:cNvPr id="983" name="Google Shape;983;p71"/>
          <p:cNvSpPr txBox="1"/>
          <p:nvPr/>
        </p:nvSpPr>
        <p:spPr>
          <a:xfrm>
            <a:off x="276900" y="598625"/>
            <a:ext cx="4105800" cy="4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Checking variable importance</a:t>
            </a:r>
            <a:endParaRPr sz="12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Char char="○"/>
            </a:pPr>
            <a:r>
              <a:rPr b="1" lang="en" sz="9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importance &lt;- varImp(model)</a:t>
            </a:r>
            <a:endParaRPr b="1" sz="9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Char char="○"/>
            </a:pPr>
            <a:r>
              <a:rPr b="1" lang="en" sz="9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&gt; print(importance)</a:t>
            </a:r>
            <a:endParaRPr b="1" sz="9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Output: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rf variable importance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Overall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bty_avg               100.000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Course                 87.566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cls_perc_eval          82.066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cls_students           58.907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age                    57.163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cls_did_eval           45.945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gendermale             19.858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cls_levelupper         12.929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cls_profssingle        11.823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pic_colorcolor          6.134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ranktenure track        5.696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ranktenured             3.326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languagenon-english     2.984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ethnicitynot minority   1.057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pic_outfitnot formal    0.000</a:t>
            </a:r>
            <a:endParaRPr b="1" sz="9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●"/>
            </a:pP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Plot</a:t>
            </a:r>
            <a:r>
              <a:rPr lang="en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:</a:t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Sora"/>
              <a:buChar char="○"/>
            </a:pPr>
            <a:r>
              <a:rPr b="1" lang="en" sz="1000">
                <a:solidFill>
                  <a:srgbClr val="C41A16"/>
                </a:solidFill>
                <a:highlight>
                  <a:srgbClr val="F5F5F5"/>
                </a:highlight>
                <a:latin typeface="Courier New"/>
                <a:ea typeface="Courier New"/>
                <a:cs typeface="Courier New"/>
                <a:sym typeface="Courier New"/>
              </a:rPr>
              <a:t>plot(importance, top = 10, main = "Top 10 Most Important Predictors")</a:t>
            </a:r>
            <a:endParaRPr sz="13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ra"/>
              <a:buChar char="○"/>
            </a:pPr>
            <a:r>
              <a:t/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C41A16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000FF"/>
              </a:solidFill>
              <a:highlight>
                <a:srgbClr val="F5F5F5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84" name="Google Shape;98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9675" y="686800"/>
            <a:ext cx="3491000" cy="43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71"/>
          <p:cNvSpPr txBox="1"/>
          <p:nvPr/>
        </p:nvSpPr>
        <p:spPr>
          <a:xfrm>
            <a:off x="3681350" y="1282525"/>
            <a:ext cx="1472700" cy="11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rPr>
              <a:t>*This shows us that beauty average, course, and % of students who filled out the evaluation in the class are the three strongest predictors of evaluation score.</a:t>
            </a:r>
            <a:endParaRPr sz="12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72"/>
          <p:cNvSpPr txBox="1"/>
          <p:nvPr>
            <p:ph type="title"/>
          </p:nvPr>
        </p:nvSpPr>
        <p:spPr>
          <a:xfrm>
            <a:off x="2662050" y="1569925"/>
            <a:ext cx="3819900" cy="10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